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donner à l'équipe qui reprend AURIANCE une vue claire de ce qui fonctionne, de l'architecture et de ce qui reste à faire.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A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097280"/>
            <a:ext cx="914400" cy="91440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325880"/>
            <a:ext cx="457200" cy="4572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214884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AURIANCE</a:t>
            </a:r>
            <a:endParaRPr lang="en-US" sz="4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9260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7FD1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Moteur vocal intelligent pour le secteur médical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41148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C7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Présentation de passation · fonctionnalités, architecture, backlog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problème et la réponse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 la parole du soignant en données structurées, sans saisie manuelle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2606040" cy="2011680"/>
          </a:xfrm>
          <a:prstGeom prst="roundRect">
            <a:avLst>
              <a:gd name="adj" fmla="val 3636"/>
            </a:avLst>
          </a:prstGeom>
          <a:solidFill>
            <a:srgbClr val="E8F4F3"/>
          </a:solidFill>
          <a:ln w="12700">
            <a:solidFill>
              <a:srgbClr val="E8F4F3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40080" y="160020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35 %</a:t>
            </a:r>
            <a:endParaRPr lang="en-US" sz="5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56032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 temps des soignants passé en saisie administrative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46120" y="1417320"/>
            <a:ext cx="2606040" cy="2011680"/>
          </a:xfrm>
          <a:prstGeom prst="roundRect">
            <a:avLst>
              <a:gd name="adj" fmla="val 3636"/>
            </a:avLst>
          </a:prstGeom>
          <a:solidFill>
            <a:srgbClr val="E8F4F3"/>
          </a:solidFill>
          <a:ln w="12700">
            <a:solidFill>
              <a:srgbClr val="E8F4F3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3429000" y="160020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&gt;95 %</a:t>
            </a:r>
            <a:endParaRPr lang="en-US" sz="5400" dirty="0"/>
          </a:p>
        </p:txBody>
      </p:sp>
      <p:sp>
        <p:nvSpPr>
          <p:cNvPr id="9" name="Text 7"/>
          <p:cNvSpPr txBox="1"/>
          <p:nvPr/>
        </p:nvSpPr>
        <p:spPr>
          <a:xfrm>
            <a:off x="3429000" y="256032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précision Whisper mesurée en français médical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035040" y="1417320"/>
            <a:ext cx="2606040" cy="2011680"/>
          </a:xfrm>
          <a:prstGeom prst="roundRect">
            <a:avLst>
              <a:gd name="adj" fmla="val 3636"/>
            </a:avLst>
          </a:prstGeom>
          <a:solidFill>
            <a:srgbClr val="E8F4F3"/>
          </a:solidFill>
          <a:ln w="12700">
            <a:solidFill>
              <a:srgbClr val="E8F4F3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217920" y="160020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5400" dirty="0"/>
          </a:p>
        </p:txBody>
      </p:sp>
      <p:sp>
        <p:nvSpPr>
          <p:cNvPr id="12" name="Text 10"/>
          <p:cNvSpPr txBox="1"/>
          <p:nvPr/>
        </p:nvSpPr>
        <p:spPr>
          <a:xfrm>
            <a:off x="6217920" y="256032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 : API FastAPI, web React, mobile Flutter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39319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Utilisateurs cibles : médecins, infirmiers, administrateurs de structure de soins.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 en 4 couches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234440"/>
            <a:ext cx="457200" cy="4572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371600" y="105156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Présentation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3383280" y="105156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React 18 + Vite (:5173)  ·  Mobile Flutter (APK Android)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57200" y="2039112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12606F"/>
          </a:solidFill>
          <a:ln w="12700">
            <a:solidFill>
              <a:srgbClr val="12606F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221992"/>
            <a:ext cx="457200" cy="45720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371600" y="2039112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</a:t>
            </a:r>
            <a:endParaRPr lang="en-US" sz="1800" dirty="0"/>
          </a:p>
        </p:txBody>
      </p:sp>
      <p:sp>
        <p:nvSpPr>
          <p:cNvPr id="10" name="Text 6"/>
          <p:cNvSpPr txBox="1"/>
          <p:nvPr/>
        </p:nvSpPr>
        <p:spPr>
          <a:xfrm>
            <a:off x="3383280" y="2039112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/ Uvicorn (:8000) · JWT · REST + WebSocket · backend/app/main.py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457200" y="3026664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17556B"/>
          </a:solidFill>
          <a:ln w="12700">
            <a:solidFill>
              <a:srgbClr val="17556B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209544"/>
            <a:ext cx="457200" cy="45720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371600" y="3026664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Services IA</a:t>
            </a:r>
            <a:endParaRPr lang="en-US" sz="1800" dirty="0"/>
          </a:p>
        </p:txBody>
      </p:sp>
      <p:sp>
        <p:nvSpPr>
          <p:cNvPr id="14" name="Text 9"/>
          <p:cNvSpPr txBox="1"/>
          <p:nvPr/>
        </p:nvSpPr>
        <p:spPr>
          <a:xfrm>
            <a:off x="3383280" y="3026664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Whisper · Silero VAD · SpaCy fr · Gemini · sentence-transformers · TTS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457200" y="4014216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0B2A3C"/>
          </a:solidFill>
          <a:ln w="12700">
            <a:solidFill>
              <a:srgbClr val="0B2A3C"/>
            </a:solidFill>
            <a:prstDash val="solid"/>
          </a:ln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197096"/>
            <a:ext cx="457200" cy="45720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371600" y="4014216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Données (Docker)</a:t>
            </a:r>
            <a:endParaRPr lang="en-US" sz="1800" dirty="0"/>
          </a:p>
        </p:txBody>
      </p:sp>
      <p:sp>
        <p:nvSpPr>
          <p:cNvPr id="18" name="Text 12"/>
          <p:cNvSpPr txBox="1"/>
          <p:nvPr/>
        </p:nvSpPr>
        <p:spPr>
          <a:xfrm>
            <a:off x="3383280" y="4014216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· Qdrant · Neo4j · MongoDB · Redis · MinIO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pipeline vocal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 fichier audio au formulaire, à la requête ou au compte-rendu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58952" y="1508760"/>
            <a:ext cx="731520" cy="73152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" y="1691640"/>
            <a:ext cx="365760" cy="3657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554480" y="1874520"/>
            <a:ext cx="411480" cy="0"/>
          </a:xfrm>
          <a:prstGeom prst="line">
            <a:avLst/>
          </a:prstGeom>
          <a:noFill/>
          <a:ln w="25400">
            <a:solidFill>
              <a:srgbClr val="7FD1C7"/>
            </a:solidFill>
            <a:prstDash val="solid"/>
            <a:tailEnd type="triangle"/>
          </a:ln>
        </p:spPr>
      </p:sp>
      <p:sp>
        <p:nvSpPr>
          <p:cNvPr id="7" name="Text 4"/>
          <p:cNvSpPr txBox="1"/>
          <p:nvPr/>
        </p:nvSpPr>
        <p:spPr>
          <a:xfrm>
            <a:off x="457200" y="237744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2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Audio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2743200"/>
            <a:ext cx="1325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wav, mp3, ogg, m4a, webm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2157984" y="1508760"/>
            <a:ext cx="731520" cy="73152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0864" y="1691640"/>
            <a:ext cx="365760" cy="36576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2953512" y="1874520"/>
            <a:ext cx="411480" cy="0"/>
          </a:xfrm>
          <a:prstGeom prst="line">
            <a:avLst/>
          </a:prstGeom>
          <a:noFill/>
          <a:ln w="25400">
            <a:solidFill>
              <a:srgbClr val="7FD1C7"/>
            </a:solidFill>
            <a:prstDash val="solid"/>
            <a:tailEnd type="triangle"/>
          </a:ln>
        </p:spPr>
      </p:sp>
      <p:sp>
        <p:nvSpPr>
          <p:cNvPr id="12" name="Text 8"/>
          <p:cNvSpPr txBox="1"/>
          <p:nvPr/>
        </p:nvSpPr>
        <p:spPr>
          <a:xfrm>
            <a:off x="1856232" y="237744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2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Nettoyage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1856232" y="2743200"/>
            <a:ext cx="1325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Silero VAD + noisereduce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3557016" y="1508760"/>
            <a:ext cx="731520" cy="73152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39896" y="1691640"/>
            <a:ext cx="365760" cy="365760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4352544" y="1874520"/>
            <a:ext cx="411480" cy="0"/>
          </a:xfrm>
          <a:prstGeom prst="line">
            <a:avLst/>
          </a:prstGeom>
          <a:noFill/>
          <a:ln w="25400">
            <a:solidFill>
              <a:srgbClr val="7FD1C7"/>
            </a:solidFill>
            <a:prstDash val="solid"/>
            <a:tailEnd type="triangle"/>
          </a:ln>
        </p:spPr>
      </p:sp>
      <p:sp>
        <p:nvSpPr>
          <p:cNvPr id="17" name="Text 12"/>
          <p:cNvSpPr txBox="1"/>
          <p:nvPr/>
        </p:nvSpPr>
        <p:spPr>
          <a:xfrm>
            <a:off x="3255264" y="237744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2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Whisper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3255264" y="2743200"/>
            <a:ext cx="1325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base, 3-5 s / 30 s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4956048" y="1508760"/>
            <a:ext cx="731520" cy="73152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38928" y="1691640"/>
            <a:ext cx="365760" cy="365760"/>
          </a:xfrm>
          <a:prstGeom prst="rect">
            <a:avLst/>
          </a:prstGeom>
        </p:spPr>
      </p:pic>
      <p:sp>
        <p:nvSpPr>
          <p:cNvPr id="21" name="Shape 15"/>
          <p:cNvSpPr/>
          <p:nvPr/>
        </p:nvSpPr>
        <p:spPr>
          <a:xfrm>
            <a:off x="5751576" y="1874520"/>
            <a:ext cx="411480" cy="0"/>
          </a:xfrm>
          <a:prstGeom prst="line">
            <a:avLst/>
          </a:prstGeom>
          <a:noFill/>
          <a:ln w="25400">
            <a:solidFill>
              <a:srgbClr val="7FD1C7"/>
            </a:solidFill>
            <a:prstDash val="solid"/>
            <a:tailEnd type="triangle"/>
          </a:ln>
        </p:spPr>
      </p:sp>
      <p:sp>
        <p:nvSpPr>
          <p:cNvPr id="22" name="Text 16"/>
          <p:cNvSpPr txBox="1"/>
          <p:nvPr/>
        </p:nvSpPr>
        <p:spPr>
          <a:xfrm>
            <a:off x="4654296" y="237744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2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NLP</a:t>
            </a:r>
            <a:endParaRPr lang="en-US" sz="1500" dirty="0"/>
          </a:p>
        </p:txBody>
      </p:sp>
      <p:sp>
        <p:nvSpPr>
          <p:cNvPr id="23" name="Text 17"/>
          <p:cNvSpPr txBox="1"/>
          <p:nvPr/>
        </p:nvSpPr>
        <p:spPr>
          <a:xfrm>
            <a:off x="4654296" y="2743200"/>
            <a:ext cx="1325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SpaCy : patient, symptômes, traitement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6355080" y="1508760"/>
            <a:ext cx="731520" cy="73152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37960" y="1691640"/>
            <a:ext cx="365760" cy="365760"/>
          </a:xfrm>
          <a:prstGeom prst="rect">
            <a:avLst/>
          </a:prstGeom>
        </p:spPr>
      </p:pic>
      <p:sp>
        <p:nvSpPr>
          <p:cNvPr id="26" name="Shape 19"/>
          <p:cNvSpPr/>
          <p:nvPr/>
        </p:nvSpPr>
        <p:spPr>
          <a:xfrm>
            <a:off x="7150608" y="1874520"/>
            <a:ext cx="411480" cy="0"/>
          </a:xfrm>
          <a:prstGeom prst="line">
            <a:avLst/>
          </a:prstGeom>
          <a:noFill/>
          <a:ln w="25400">
            <a:solidFill>
              <a:srgbClr val="7FD1C7"/>
            </a:solidFill>
            <a:prstDash val="solid"/>
            <a:tailEnd type="triangle"/>
          </a:ln>
        </p:spPr>
      </p:sp>
      <p:sp>
        <p:nvSpPr>
          <p:cNvPr id="27" name="Text 20"/>
          <p:cNvSpPr txBox="1"/>
          <p:nvPr/>
        </p:nvSpPr>
        <p:spPr>
          <a:xfrm>
            <a:off x="6053328" y="237744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2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Gemini</a:t>
            </a:r>
            <a:endParaRPr lang="en-US" sz="1500" dirty="0"/>
          </a:p>
        </p:txBody>
      </p:sp>
      <p:sp>
        <p:nvSpPr>
          <p:cNvPr id="28" name="Text 21"/>
          <p:cNvSpPr txBox="1"/>
          <p:nvPr/>
        </p:nvSpPr>
        <p:spPr>
          <a:xfrm>
            <a:off x="6053328" y="2743200"/>
            <a:ext cx="1325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JSON, SQL, Cypher, RAG, rapport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7754112" y="1508760"/>
            <a:ext cx="731520" cy="73152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36992" y="1691640"/>
            <a:ext cx="365760" cy="365760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7452360" y="237744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2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Sortie</a:t>
            </a:r>
            <a:endParaRPr lang="en-US" sz="1500" dirty="0"/>
          </a:p>
        </p:txBody>
      </p:sp>
      <p:sp>
        <p:nvSpPr>
          <p:cNvPr id="32" name="Text 24"/>
          <p:cNvSpPr txBox="1"/>
          <p:nvPr/>
        </p:nvSpPr>
        <p:spPr>
          <a:xfrm>
            <a:off x="7452360" y="2743200"/>
            <a:ext cx="1325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multi-bases, PDF, WebSocket</a:t>
            </a:r>
            <a:endParaRPr lang="en-US" sz="1100" dirty="0"/>
          </a:p>
        </p:txBody>
      </p:sp>
      <p:sp>
        <p:nvSpPr>
          <p:cNvPr id="33" name="Text 25"/>
          <p:cNvSpPr txBox="1"/>
          <p:nvPr/>
        </p:nvSpPr>
        <p:spPr>
          <a:xfrm>
            <a:off x="457200" y="4160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: whisper_service.py → nlp_service.py → query_generation_service.py / rag_service.py → report_generation_service.py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bases, un rôle chacune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2606040" cy="1463040"/>
          </a:xfrm>
          <a:prstGeom prst="roundRect">
            <a:avLst>
              <a:gd name="adj" fmla="val 5000"/>
            </a:avLst>
          </a:prstGeom>
          <a:solidFill>
            <a:srgbClr val="E8F4F3"/>
          </a:solidFill>
          <a:ln w="12700">
            <a:solidFill>
              <a:srgbClr val="E8F4F3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40080" y="1280160"/>
            <a:ext cx="502920" cy="50292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5810" y="1405890"/>
            <a:ext cx="251460" cy="2514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80160" y="128016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PostgreSQL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87452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Users, patients, consultations, transcriptions, rapports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246120" y="1097280"/>
            <a:ext cx="2606040" cy="1463040"/>
          </a:xfrm>
          <a:prstGeom prst="roundRect">
            <a:avLst>
              <a:gd name="adj" fmla="val 5000"/>
            </a:avLst>
          </a:prstGeom>
          <a:solidFill>
            <a:srgbClr val="E8F4F3"/>
          </a:solidFill>
          <a:ln w="12700">
            <a:solidFill>
              <a:srgbClr val="E8F4F3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3429000" y="1280160"/>
            <a:ext cx="502920" cy="50292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4730" y="1405890"/>
            <a:ext cx="251460" cy="25146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069080" y="128016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Neo4j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3429000" y="187452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Graphe médical : médicaments, interactions, pathologies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6035040" y="1097280"/>
            <a:ext cx="2606040" cy="1463040"/>
          </a:xfrm>
          <a:prstGeom prst="roundRect">
            <a:avLst>
              <a:gd name="adj" fmla="val 5000"/>
            </a:avLst>
          </a:prstGeom>
          <a:solidFill>
            <a:srgbClr val="E8F4F3"/>
          </a:solidFill>
          <a:ln w="12700">
            <a:solidFill>
              <a:srgbClr val="E8F4F3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6217920" y="1280160"/>
            <a:ext cx="502920" cy="50292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3650" y="1405890"/>
            <a:ext cx="251460" cy="25146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858000" y="128016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Qdrant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6217920" y="187452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Vecteurs pour le RAG et la recherche sémantique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457200" y="2788920"/>
            <a:ext cx="2606040" cy="1463040"/>
          </a:xfrm>
          <a:prstGeom prst="roundRect">
            <a:avLst>
              <a:gd name="adj" fmla="val 5000"/>
            </a:avLst>
          </a:prstGeom>
          <a:solidFill>
            <a:srgbClr val="E8F4F3"/>
          </a:solidFill>
          <a:ln w="12700">
            <a:solidFill>
              <a:srgbClr val="E8F4F3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2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640080" y="2971800"/>
            <a:ext cx="502920" cy="50292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5810" y="3097530"/>
            <a:ext cx="251460" cy="25146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280160" y="29718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MongoDB</a:t>
            </a:r>
            <a:endParaRPr lang="en-US" sz="1600" dirty="0"/>
          </a:p>
        </p:txBody>
      </p:sp>
      <p:sp>
        <p:nvSpPr>
          <p:cNvPr id="22" name="Text 16"/>
          <p:cNvSpPr txBox="1"/>
          <p:nvPr/>
        </p:nvSpPr>
        <p:spPr>
          <a:xfrm>
            <a:off x="640080" y="356616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 semi-structurés, formulaires bruts</a:t>
            </a:r>
            <a:endParaRPr lang="en-US" sz="1200" dirty="0"/>
          </a:p>
        </p:txBody>
      </p:sp>
      <p:sp>
        <p:nvSpPr>
          <p:cNvPr id="23" name="Shape 17"/>
          <p:cNvSpPr/>
          <p:nvPr/>
        </p:nvSpPr>
        <p:spPr>
          <a:xfrm>
            <a:off x="3246120" y="2788920"/>
            <a:ext cx="2606040" cy="1463040"/>
          </a:xfrm>
          <a:prstGeom prst="roundRect">
            <a:avLst>
              <a:gd name="adj" fmla="val 5000"/>
            </a:avLst>
          </a:prstGeom>
          <a:solidFill>
            <a:srgbClr val="E8F4F3"/>
          </a:solidFill>
          <a:ln w="12700">
            <a:solidFill>
              <a:srgbClr val="E8F4F3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2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3429000" y="2971800"/>
            <a:ext cx="502920" cy="50292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54730" y="3097530"/>
            <a:ext cx="251460" cy="25146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4069080" y="29718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Redis</a:t>
            </a:r>
            <a:endParaRPr lang="en-US" sz="1600" dirty="0"/>
          </a:p>
        </p:txBody>
      </p:sp>
      <p:sp>
        <p:nvSpPr>
          <p:cNvPr id="27" name="Text 20"/>
          <p:cNvSpPr txBox="1"/>
          <p:nvPr/>
        </p:nvSpPr>
        <p:spPr>
          <a:xfrm>
            <a:off x="3429000" y="356616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des transcriptions, sessions</a:t>
            </a:r>
            <a:endParaRPr lang="en-US" sz="1200" dirty="0"/>
          </a:p>
        </p:txBody>
      </p:sp>
      <p:sp>
        <p:nvSpPr>
          <p:cNvPr id="28" name="Shape 21"/>
          <p:cNvSpPr/>
          <p:nvPr/>
        </p:nvSpPr>
        <p:spPr>
          <a:xfrm>
            <a:off x="6035040" y="2788920"/>
            <a:ext cx="2606040" cy="1463040"/>
          </a:xfrm>
          <a:prstGeom prst="roundRect">
            <a:avLst>
              <a:gd name="adj" fmla="val 5000"/>
            </a:avLst>
          </a:prstGeom>
          <a:solidFill>
            <a:srgbClr val="E8F4F3"/>
          </a:solidFill>
          <a:ln w="12700">
            <a:solidFill>
              <a:srgbClr val="E8F4F3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2000"/>
              </a:srgbClr>
            </a:outerShdw>
          </a:effectLst>
        </p:spPr>
      </p:sp>
      <p:sp>
        <p:nvSpPr>
          <p:cNvPr id="29" name="Shape 22"/>
          <p:cNvSpPr/>
          <p:nvPr/>
        </p:nvSpPr>
        <p:spPr>
          <a:xfrm>
            <a:off x="6217920" y="2971800"/>
            <a:ext cx="502920" cy="50292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43650" y="3097530"/>
            <a:ext cx="251460" cy="251460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6858000" y="29718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MinIO</a:t>
            </a:r>
            <a:endParaRPr lang="en-US" sz="1600" dirty="0"/>
          </a:p>
        </p:txBody>
      </p:sp>
      <p:sp>
        <p:nvSpPr>
          <p:cNvPr id="32" name="Text 24"/>
          <p:cNvSpPr txBox="1"/>
          <p:nvPr/>
        </p:nvSpPr>
        <p:spPr>
          <a:xfrm>
            <a:off x="6217920" y="356616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Fichiers audio et PDF (compatible S3)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Implémenté : l'API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Endpoints réellement exposés par backend/app/main.py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502920" cy="50292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2930" y="1405890"/>
            <a:ext cx="251460" cy="2514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097280" y="1261872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Authentification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1097280" y="1554480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/auth : register, login JWT 24 h, me · rôles patient / médecin / admin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4663440" y="1280160"/>
            <a:ext cx="502920" cy="50292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9170" y="1405890"/>
            <a:ext cx="251460" cy="25146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5303520" y="1261872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Voix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5303520" y="1554480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/api/voice : transcribe, transcribe-and-analyze, detect-language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457200" y="2377440"/>
            <a:ext cx="502920" cy="50292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930" y="2503170"/>
            <a:ext cx="251460" cy="25146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097280" y="2359152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Cœur AURIANCE</a:t>
            </a:r>
            <a:endParaRPr lang="en-US" sz="1500" dirty="0"/>
          </a:p>
        </p:txBody>
      </p:sp>
      <p:sp>
        <p:nvSpPr>
          <p:cNvPr id="15" name="Text 10"/>
          <p:cNvSpPr txBox="1"/>
          <p:nvPr/>
        </p:nvSpPr>
        <p:spPr>
          <a:xfrm>
            <a:off x="1097280" y="2651760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/api/auriance : formulaire JSON, SQL, Cypher, RAG, rapport, PDF, consultations, pipeline complet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4663440" y="2377440"/>
            <a:ext cx="502920" cy="50292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9170" y="2503170"/>
            <a:ext cx="251460" cy="25146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5303520" y="2359152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Données</a:t>
            </a:r>
            <a:endParaRPr lang="en-US" sz="1500" dirty="0"/>
          </a:p>
        </p:txBody>
      </p:sp>
      <p:sp>
        <p:nvSpPr>
          <p:cNvPr id="19" name="Text 13"/>
          <p:cNvSpPr txBox="1"/>
          <p:nvPr/>
        </p:nvSpPr>
        <p:spPr>
          <a:xfrm>
            <a:off x="5303520" y="2651760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/data : CRUD transcriptions, extractions, rapports, requêtes générées, recherche sémantique</a:t>
            </a:r>
            <a:endParaRPr lang="en-US" sz="1150" dirty="0"/>
          </a:p>
        </p:txBody>
      </p:sp>
      <p:sp>
        <p:nvSpPr>
          <p:cNvPr id="20" name="Shape 14"/>
          <p:cNvSpPr/>
          <p:nvPr/>
        </p:nvSpPr>
        <p:spPr>
          <a:xfrm>
            <a:off x="457200" y="3474720"/>
            <a:ext cx="502920" cy="50292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2930" y="3600450"/>
            <a:ext cx="251460" cy="251460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1097280" y="3456432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Traduction</a:t>
            </a:r>
            <a:endParaRPr lang="en-US" sz="1500" dirty="0"/>
          </a:p>
        </p:txBody>
      </p:sp>
      <p:sp>
        <p:nvSpPr>
          <p:cNvPr id="23" name="Text 16"/>
          <p:cNvSpPr txBox="1"/>
          <p:nvPr/>
        </p:nvSpPr>
        <p:spPr>
          <a:xfrm>
            <a:off x="1097280" y="3749040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/translation : 12 langues, traduction de transcriptions</a:t>
            </a:r>
            <a:endParaRPr lang="en-US" sz="1150" dirty="0"/>
          </a:p>
        </p:txBody>
      </p:sp>
      <p:sp>
        <p:nvSpPr>
          <p:cNvPr id="24" name="Shape 17"/>
          <p:cNvSpPr/>
          <p:nvPr/>
        </p:nvSpPr>
        <p:spPr>
          <a:xfrm>
            <a:off x="4663440" y="3474720"/>
            <a:ext cx="502920" cy="50292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89170" y="3600450"/>
            <a:ext cx="251460" cy="251460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5303520" y="3456432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Assistant Aurian</a:t>
            </a:r>
            <a:endParaRPr lang="en-US" sz="1500" dirty="0"/>
          </a:p>
        </p:txBody>
      </p:sp>
      <p:sp>
        <p:nvSpPr>
          <p:cNvPr id="27" name="Text 19"/>
          <p:cNvSpPr txBox="1"/>
          <p:nvPr/>
        </p:nvSpPr>
        <p:spPr>
          <a:xfrm>
            <a:off x="5303520" y="3749040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santé Gemini, synthèse vocale, WebSocket /ws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Implémenté : web et mobile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4023360" cy="3611880"/>
          </a:xfrm>
          <a:prstGeom prst="roundRect">
            <a:avLst>
              <a:gd name="adj" fmla="val 2025"/>
            </a:avLst>
          </a:prstGeom>
          <a:solidFill>
            <a:srgbClr val="E8F4F3"/>
          </a:solidFill>
          <a:ln w="12700">
            <a:solidFill>
              <a:srgbClr val="E8F4F3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85800" y="1234440"/>
            <a:ext cx="548640" cy="54864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371600"/>
            <a:ext cx="274320" cy="2743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71600" y="123444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2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 React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1965960"/>
            <a:ext cx="36118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vitrine : fonctionnalités, tarifs, doc API, FAQ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Connexion, inscription, session persistée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Outil vocal : dictée, formulaire auto, historique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Générateur de requêtes SQL / Cypher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IA, dashboard, paramètres, multilingue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SDK JavaScript embarquable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663440" y="1051560"/>
            <a:ext cx="4023360" cy="3611880"/>
          </a:xfrm>
          <a:prstGeom prst="roundRect">
            <a:avLst>
              <a:gd name="adj" fmla="val 2025"/>
            </a:avLst>
          </a:prstGeom>
          <a:solidFill>
            <a:srgbClr val="E8F4F3"/>
          </a:solidFill>
          <a:ln w="12700">
            <a:solidFill>
              <a:srgbClr val="E8F4F3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892040" y="1234440"/>
            <a:ext cx="548640" cy="54864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371600"/>
            <a:ext cx="274320" cy="27432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577840" y="123444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2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Mobile Flutter</a:t>
            </a:r>
            <a:endParaRPr 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4892040" y="1965960"/>
            <a:ext cx="36118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Login, inscription, consentement RGPD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Transcription Whisper distante et live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Formulaire auto-rempli → base + PDF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Enregistrement et import audio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Recherche médicale, historique RAG local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 démo hors-ligne, écran admin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À savoir avant de reprendre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Écarts entre le rapport SAE et l'état réel du code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1554480" cy="658368"/>
          </a:xfrm>
          <a:prstGeom prst="roundRect">
            <a:avLst>
              <a:gd name="adj" fmla="val 11111"/>
            </a:avLst>
          </a:prstGeom>
          <a:solidFill>
            <a:srgbClr val="D1495B"/>
          </a:solidFill>
          <a:ln w="12700">
            <a:solidFill>
              <a:srgbClr val="D1495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280160"/>
            <a:ext cx="1554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 / 30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2240280" y="1280160"/>
            <a:ext cx="6446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routers montés dans main.py. Admin, streaming WebSocket, patients, planning… existent mais ne sont pas exposés.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57200" y="2103120"/>
            <a:ext cx="1554480" cy="658368"/>
          </a:xfrm>
          <a:prstGeom prst="roundRect">
            <a:avLst>
              <a:gd name="adj" fmla="val 11111"/>
            </a:avLst>
          </a:prstGeom>
          <a:solidFill>
            <a:srgbClr val="D1495B"/>
          </a:solidFill>
          <a:ln w="12700">
            <a:solidFill>
              <a:srgbClr val="D1495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2103120"/>
            <a:ext cx="1554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2240280" y="2103120"/>
            <a:ext cx="6446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 du docker-compose (voice, nlp, gateway, monitoring) pointent vers des dossiers absents du dépôt.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57200" y="2926080"/>
            <a:ext cx="1554480" cy="658368"/>
          </a:xfrm>
          <a:prstGeom prst="roundRect">
            <a:avLst>
              <a:gd name="adj" fmla="val 11111"/>
            </a:avLst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" y="2926080"/>
            <a:ext cx="1554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8000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2240280" y="2926080"/>
            <a:ext cx="6446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 le vrai port du backend (le rapport indique 8090). Le client web a été corrigé en local.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457200" y="3749040"/>
            <a:ext cx="1554480" cy="658368"/>
          </a:xfrm>
          <a:prstGeom prst="roundRect">
            <a:avLst>
              <a:gd name="adj" fmla="val 11111"/>
            </a:avLst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7200" y="3749040"/>
            <a:ext cx="1554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Secrets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2240280" y="3749040"/>
            <a:ext cx="6446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clair dans le compose, Redis incohérent (mot de passe dans l'URL, plus dans le serveur).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Backlog : les prochaines étapes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4023360" cy="502920"/>
          </a:xfrm>
          <a:prstGeom prst="roundRect">
            <a:avLst>
              <a:gd name="adj" fmla="val 14545"/>
            </a:avLst>
          </a:prstGeom>
          <a:solidFill>
            <a:srgbClr val="D1495B"/>
          </a:solidFill>
          <a:ln w="12700">
            <a:solidFill>
              <a:srgbClr val="D1495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00584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P0 · Stabiliser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4023360" cy="493776"/>
          </a:xfrm>
          <a:prstGeom prst="roundRect">
            <a:avLst>
              <a:gd name="adj" fmla="val 14815"/>
            </a:avLst>
          </a:prstGeom>
          <a:solidFill>
            <a:srgbClr val="E8F4F3"/>
          </a:solidFill>
          <a:ln w="12700">
            <a:solidFill>
              <a:srgbClr val="E8F4F3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640080" y="1645920"/>
            <a:ext cx="3657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Réparer docker-compose + service backend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" y="2249424"/>
            <a:ext cx="4023360" cy="493776"/>
          </a:xfrm>
          <a:prstGeom prst="roundRect">
            <a:avLst>
              <a:gd name="adj" fmla="val 14815"/>
            </a:avLst>
          </a:prstGeom>
          <a:solidFill>
            <a:srgbClr val="E8F4F3"/>
          </a:solidFill>
          <a:ln w="12700">
            <a:solidFill>
              <a:srgbClr val="E8F4F3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40080" y="2249424"/>
            <a:ext cx="3657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Sortir les secrets dans un .env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57200" y="2852928"/>
            <a:ext cx="4023360" cy="493776"/>
          </a:xfrm>
          <a:prstGeom prst="roundRect">
            <a:avLst>
              <a:gd name="adj" fmla="val 14815"/>
            </a:avLst>
          </a:prstGeom>
          <a:solidFill>
            <a:srgbClr val="E8F4F3"/>
          </a:solidFill>
          <a:ln w="12700">
            <a:solidFill>
              <a:srgbClr val="E8F4F3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640080" y="2852928"/>
            <a:ext cx="3657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Corriger l'URL Redis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57200" y="3456432"/>
            <a:ext cx="4023360" cy="493776"/>
          </a:xfrm>
          <a:prstGeom prst="roundRect">
            <a:avLst>
              <a:gd name="adj" fmla="val 14815"/>
            </a:avLst>
          </a:prstGeom>
          <a:solidFill>
            <a:srgbClr val="E8F4F3"/>
          </a:solidFill>
          <a:ln w="12700">
            <a:solidFill>
              <a:srgbClr val="E8F4F3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640080" y="3456432"/>
            <a:ext cx="3657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Committer les correctifs Whisper / requirements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57200" y="4059936"/>
            <a:ext cx="4023360" cy="493776"/>
          </a:xfrm>
          <a:prstGeom prst="roundRect">
            <a:avLst>
              <a:gd name="adj" fmla="val 14815"/>
            </a:avLst>
          </a:prstGeom>
          <a:solidFill>
            <a:srgbClr val="E8F4F3"/>
          </a:solidFill>
          <a:ln w="12700">
            <a:solidFill>
              <a:srgbClr val="E8F4F3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640080" y="4059936"/>
            <a:ext cx="3657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SECRET_KEY et CORS de production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663440" y="1005840"/>
            <a:ext cx="4023360" cy="502920"/>
          </a:xfrm>
          <a:prstGeom prst="roundRect">
            <a:avLst>
              <a:gd name="adj" fmla="val 14545"/>
            </a:avLst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846320" y="100584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P1 · Terminer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4663440" y="1645920"/>
            <a:ext cx="4023360" cy="493776"/>
          </a:xfrm>
          <a:prstGeom prst="roundRect">
            <a:avLst>
              <a:gd name="adj" fmla="val 14815"/>
            </a:avLst>
          </a:prstGeom>
          <a:solidFill>
            <a:srgbClr val="E8F4F3"/>
          </a:solidFill>
          <a:ln w="12700">
            <a:solidFill>
              <a:srgbClr val="E8F4F3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4846320" y="1645920"/>
            <a:ext cx="3657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Monter streaming, admin, patients, medical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663440" y="2249424"/>
            <a:ext cx="4023360" cy="493776"/>
          </a:xfrm>
          <a:prstGeom prst="roundRect">
            <a:avLst>
              <a:gd name="adj" fmla="val 14815"/>
            </a:avLst>
          </a:prstGeom>
          <a:solidFill>
            <a:srgbClr val="E8F4F3"/>
          </a:solidFill>
          <a:ln w="12700">
            <a:solidFill>
              <a:srgbClr val="E8F4F3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4846320" y="2249424"/>
            <a:ext cx="3657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Supprimer les points d'entrée historiques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663440" y="2852928"/>
            <a:ext cx="4023360" cy="493776"/>
          </a:xfrm>
          <a:prstGeom prst="roundRect">
            <a:avLst>
              <a:gd name="adj" fmla="val 14815"/>
            </a:avLst>
          </a:prstGeom>
          <a:solidFill>
            <a:srgbClr val="E8F4F3"/>
          </a:solidFill>
          <a:ln w="12700">
            <a:solidFill>
              <a:srgbClr val="E8F4F3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4846320" y="2852928"/>
            <a:ext cx="3657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: transcrire les enregistrements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4663440" y="3456432"/>
            <a:ext cx="4023360" cy="493776"/>
          </a:xfrm>
          <a:prstGeom prst="roundRect">
            <a:avLst>
              <a:gd name="adj" fmla="val 14815"/>
            </a:avLst>
          </a:prstGeom>
          <a:solidFill>
            <a:srgbClr val="E8F4F3"/>
          </a:solidFill>
          <a:ln w="12700">
            <a:solidFill>
              <a:srgbClr val="E8F4F3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4846320" y="3456432"/>
            <a:ext cx="3657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: lecture audio + historique à l'écran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4663440" y="4059936"/>
            <a:ext cx="4023360" cy="493776"/>
          </a:xfrm>
          <a:prstGeom prst="roundRect">
            <a:avLst>
              <a:gd name="adj" fmla="val 14815"/>
            </a:avLst>
          </a:prstGeom>
          <a:solidFill>
            <a:srgbClr val="E8F4F3"/>
          </a:solidFill>
          <a:ln w="12700">
            <a:solidFill>
              <a:srgbClr val="E8F4F3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 txBox="1"/>
          <p:nvPr/>
        </p:nvSpPr>
        <p:spPr>
          <a:xfrm>
            <a:off x="4846320" y="4059936"/>
            <a:ext cx="3657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Gradle 8.7, CI pytest, routing web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Feuille de route produit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Fonctionnalités à venir, du plus proche au plus lointain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31520" y="1691640"/>
            <a:ext cx="7680960" cy="0"/>
          </a:xfrm>
          <a:prstGeom prst="line">
            <a:avLst/>
          </a:prstGeom>
          <a:noFill/>
          <a:ln w="38100">
            <a:solidFill>
              <a:srgbClr val="7FD1C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00200" y="1527048"/>
            <a:ext cx="329184" cy="329184"/>
          </a:xfrm>
          <a:prstGeom prst="ellipse">
            <a:avLst/>
          </a:prstGeom>
          <a:solidFill>
            <a:srgbClr val="0E7C8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96596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2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Court terme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2468880"/>
            <a:ext cx="2606040" cy="1600200"/>
          </a:xfrm>
          <a:prstGeom prst="roundRect">
            <a:avLst>
              <a:gd name="adj" fmla="val 4571"/>
            </a:avLst>
          </a:prstGeom>
          <a:solidFill>
            <a:srgbClr val="E8F4F3"/>
          </a:solidFill>
          <a:ln w="12700">
            <a:solidFill>
              <a:srgbClr val="E8F4F3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40080" y="2606040"/>
            <a:ext cx="2286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Whisper small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Traductions es / ar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backend réglable dans l'app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389120" y="1527048"/>
            <a:ext cx="329184" cy="329184"/>
          </a:xfrm>
          <a:prstGeom prst="ellipse">
            <a:avLst/>
          </a:prstGeom>
          <a:solidFill>
            <a:srgbClr val="17556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246120" y="196596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2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Moyen terme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3246120" y="2468880"/>
            <a:ext cx="2606040" cy="1600200"/>
          </a:xfrm>
          <a:prstGeom prst="roundRect">
            <a:avLst>
              <a:gd name="adj" fmla="val 4571"/>
            </a:avLst>
          </a:prstGeom>
          <a:solidFill>
            <a:srgbClr val="E8F4F3"/>
          </a:solidFill>
          <a:ln w="12700">
            <a:solidFill>
              <a:srgbClr val="E8F4F3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3429000" y="2606040"/>
            <a:ext cx="2286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par cabinet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DeepL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complet + audit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Grafana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178040" y="1527048"/>
            <a:ext cx="329184" cy="329184"/>
          </a:xfrm>
          <a:prstGeom prst="ellipse">
            <a:avLst/>
          </a:prstGeom>
          <a:solidFill>
            <a:srgbClr val="0B2A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035040" y="196596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2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Long terme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6035040" y="2468880"/>
            <a:ext cx="2606040" cy="1600200"/>
          </a:xfrm>
          <a:prstGeom prst="roundRect">
            <a:avLst>
              <a:gd name="adj" fmla="val 4571"/>
            </a:avLst>
          </a:prstGeom>
          <a:solidFill>
            <a:srgbClr val="E8F4F3"/>
          </a:solidFill>
          <a:ln w="12700">
            <a:solidFill>
              <a:srgbClr val="E8F4F3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6217920" y="2606040"/>
            <a:ext cx="2286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Certification HDS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 eIDAS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Intégration logiciels métier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Whisper fine-tuné médical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2A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Pour démarrer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57200" cy="45720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097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10972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FD1C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Bases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2468880" y="1097280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compose up -d postgres qdrant redis mongo neo4j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783080"/>
            <a:ext cx="457200" cy="45720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17830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FD1C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2468880" y="1783080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 install -r requirements.txt · uvicorn app.main:app --port 8000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468880"/>
            <a:ext cx="457200" cy="45720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7200" y="2468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097280" y="24688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FD1C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2468880" y="2468880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auriance-frontend &amp;&amp; npm install &amp;&amp; npm run dev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154680"/>
            <a:ext cx="457200" cy="45720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" y="3154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097280" y="31546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FD1C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Mobile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2468880" y="3154680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cp .env.example .env · flutter pub get · flutter run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C7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de passation : </a:t>
            </a:r>
            <a:pPr indent="0" marL="0">
              <a:buNone/>
            </a:pPr>
            <a:r>
              <a:rPr lang="en-US" sz="14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.claude/skills/passation/</a:t>
            </a:r>
            <a:pPr indent="0" marL="0">
              <a:buNone/>
            </a:pPr>
            <a:r>
              <a:rPr lang="en-US" sz="1400" dirty="0">
                <a:solidFill>
                  <a:srgbClr val="B8C7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(architecture, fonctionnalités, backlog)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AURIANCE — Passation</dc:title>
  <dc:subject>PptxGenJS Presentation</dc:subject>
  <dc:creator>PptxGenJS</dc:creator>
  <cp:lastModifiedBy>PptxGenJS</cp:lastModifiedBy>
  <cp:revision>1</cp:revision>
  <dcterms:created xsi:type="dcterms:W3CDTF">2026-09-23T22:17:00Z</dcterms:created>
  <dcterms:modified xsi:type="dcterms:W3CDTF">2026-09-23T22:17:00Z</dcterms:modified>
</cp:coreProperties>
</file>